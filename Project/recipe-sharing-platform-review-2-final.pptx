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project abstract and presentation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8D64A7D-76A2-4AB1-B6F4-7CA13D5595D4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72390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Recipe Sharing Platform</a:t>
            </a:r>
          </a:p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Meal Planner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8976A553-0306-4ACA-981C-1D7F186FE7C9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1476375" cy="0"/>
          </a:xfrm>
          <a:prstGeom prst="line">
            <a:avLst/>
          </a:prstGeom>
          <a:noFill/>
          <a:ln w="28575">
            <a:solidFill>
              <a:srgbClr val="E77D5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E89758-A865-45A2-98CD-08BD11DFF206}"/>
              </a:ext>
            </a:extLst>
          </p:cNvPr>
          <p:cNvSpPr>
            <a:spLocks noGrp="1"/>
          </p:cNvSpPr>
          <p:nvPr/>
        </p:nvSpPr>
        <p:spPr>
          <a:xfrm>
            <a:off x="742950" y="2714625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423"/>
          </a:bodyPr>
          <a:lstStyle/>
          <a:p>
            <a:pPr algn="l">
              <a:defRPr sz="18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Database Systems Engineering and Distributed Backend Development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7822A9-AA31-4DB1-825C-6FFA2FE193D3}"/>
              </a:ext>
            </a:extLst>
          </p:cNvPr>
          <p:cNvSpPr>
            <a:spLocks noGrp="1"/>
          </p:cNvSpPr>
          <p:nvPr/>
        </p:nvSpPr>
        <p:spPr>
          <a:xfrm>
            <a:off x="742950" y="4714875"/>
            <a:ext cx="7239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DDF2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F2EE"/>
                </a:solidFill>
                <a:latin typeface="Arial"/>
                <a:ea typeface="Arial"/>
                <a:cs typeface="Arial"/>
              </a:rPr>
              <a:t>Y25 · 2026–2027 · Trimester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23F5A1-E990-4C0C-B517-FAF3A29B0F0A}"/>
              </a:ext>
            </a:extLst>
          </p:cNvPr>
          <p:cNvSpPr>
            <a:spLocks noGrp="1"/>
          </p:cNvSpPr>
          <p:nvPr/>
        </p:nvSpPr>
        <p:spPr>
          <a:xfrm>
            <a:off x="742950" y="5181600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Thodeti Arun (2520030456)   |   Pavan (2520090200)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B734CE-9E80-45A8-B2AA-8E48FB76CEE8}"/>
              </a:ext>
            </a:extLst>
          </p:cNvPr>
          <p:cNvSpPr>
            <a:spLocks noGrp="1"/>
          </p:cNvSpPr>
          <p:nvPr/>
        </p:nvSpPr>
        <p:spPr>
          <a:xfrm>
            <a:off x="8477250" y="1714500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147A78"/>
          </a:solidFill>
          <a:ln w="9525">
            <a:solidFill>
              <a:srgbClr val="147A7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Recipes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D85E8-DBC9-49AE-8F46-9D8B472C85E5}"/>
              </a:ext>
            </a:extLst>
          </p:cNvPr>
          <p:cNvSpPr>
            <a:spLocks noGrp="1"/>
          </p:cNvSpPr>
          <p:nvPr/>
        </p:nvSpPr>
        <p:spPr>
          <a:xfrm>
            <a:off x="8096250" y="3067050"/>
            <a:ext cx="2952750" cy="781050"/>
          </a:xfrm>
          <a:prstGeom prst="roundRect">
            <a:avLst>
              <a:gd name="adj" fmla="val 9756"/>
            </a:avLst>
          </a:prstGeom>
          <a:solidFill>
            <a:srgbClr val="DDF2EE"/>
          </a:solidFill>
          <a:ln w="9525">
            <a:solidFill>
              <a:srgbClr val="DDF2EE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Meal plan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85FD40-602E-4B0A-87A4-FDCE32A5C2F0}"/>
              </a:ext>
            </a:extLst>
          </p:cNvPr>
          <p:cNvSpPr>
            <a:spLocks noGrp="1"/>
          </p:cNvSpPr>
          <p:nvPr/>
        </p:nvSpPr>
        <p:spPr>
          <a:xfrm>
            <a:off x="8477250" y="4419600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E77D5B"/>
          </a:solidFill>
          <a:ln w="9525">
            <a:solidFill>
              <a:srgbClr val="E77D5B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Grocery list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293419F-FCB8-46E0-A857-0FDA41B5E51C}"/>
              </a:ext>
            </a:extLst>
          </p:cNvPr>
          <p:cNvSpPr>
            <a:spLocks noGrp="1"/>
          </p:cNvSpPr>
          <p:nvPr/>
        </p:nvSpPr>
        <p:spPr>
          <a:xfrm>
            <a:off x="9572625" y="2495550"/>
            <a:ext cx="0" cy="57150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A2A1C8E-566C-48E5-A094-08D5500C1B6F}"/>
              </a:ext>
            </a:extLst>
          </p:cNvPr>
          <p:cNvSpPr>
            <a:spLocks noGrp="1"/>
          </p:cNvSpPr>
          <p:nvPr/>
        </p:nvSpPr>
        <p:spPr>
          <a:xfrm>
            <a:off x="9572625" y="3848100"/>
            <a:ext cx="0" cy="57150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</p:spTree>
    <p:extLst>
      <p:ext uri="{BB962C8B-B14F-4D97-AF65-F5344CB8AC3E}">
        <p14:creationId xmlns:p14="http://schemas.microsoft.com/office/powerpoint/2010/main" val="155104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E844EF-8D0F-485C-ACE0-C372D2E8FD7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8B964776-EFA1-44C1-9DF7-FB97DAEA8790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0A800-880B-4A32-A951-21D653E1CDB6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8E03D-823C-4A65-9983-59C4C3AEE998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5590AE-FBBB-421D-B89A-EED9A347A913}"/>
              </a:ext>
            </a:extLst>
          </p:cNvPr>
          <p:cNvSpPr>
            <a:spLocks noGrp="1"/>
          </p:cNvSpPr>
          <p:nvPr/>
        </p:nvSpPr>
        <p:spPr>
          <a:xfrm>
            <a:off x="1095375" y="1600200"/>
            <a:ext cx="9906000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79400" indent="-127000" algn="l">
              <a:spcAft>
                <a:spcPts val="1000"/>
              </a:spcAft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Recipes are often saved in scattered places.</a:t>
            </a:r>
          </a:p>
          <a:p>
            <a:pPr marL="279400" indent="-127000" algn="l">
              <a:spcAft>
                <a:spcPts val="1000"/>
              </a:spcAft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Weekly meal planning takes time and repeated effort.</a:t>
            </a:r>
          </a:p>
          <a:p>
            <a:pPr marL="279400" indent="-127000" algn="l">
              <a:spcAft>
                <a:spcPts val="1000"/>
              </a:spcAft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Ingredient lists are difficult to prepare across multiple recipes.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B030A9-2A6E-4056-98E3-29A04568082E}"/>
              </a:ext>
            </a:extLst>
          </p:cNvPr>
          <p:cNvSpPr>
            <a:spLocks noGrp="1"/>
          </p:cNvSpPr>
          <p:nvPr/>
        </p:nvSpPr>
        <p:spPr>
          <a:xfrm>
            <a:off x="1095375" y="4762500"/>
            <a:ext cx="9334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47A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7A78"/>
                </a:solidFill>
                <a:latin typeface="Arial"/>
                <a:ea typeface="Arial"/>
                <a:cs typeface="Arial"/>
              </a:rPr>
              <a:t>Need: one simple application for recipes, plans, and ingredients.</a:t>
            </a:r>
          </a:p>
        </p:txBody>
      </p:sp>
    </p:spTree>
    <p:extLst>
      <p:ext uri="{BB962C8B-B14F-4D97-AF65-F5344CB8AC3E}">
        <p14:creationId xmlns:p14="http://schemas.microsoft.com/office/powerpoint/2010/main" val="54178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F71633-7692-42B7-97C9-7C28869674B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E6B9A38-55DB-488C-8BD5-CC9911C30C79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BB7A1-5D17-4C39-AA43-026DB1E91B0E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CFE909-E808-452E-9FAF-B96B28E4C74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D0AAC0-59CF-410F-908D-9A5EA3C0AEA1}"/>
              </a:ext>
            </a:extLst>
          </p:cNvPr>
          <p:cNvSpPr>
            <a:spLocks noGrp="1"/>
          </p:cNvSpPr>
          <p:nvPr/>
        </p:nvSpPr>
        <p:spPr>
          <a:xfrm>
            <a:off x="1066800" y="1524000"/>
            <a:ext cx="9953625" cy="3286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Provide accounts for creating, browsing, and sharing recipes.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 recipe search by category and recipe details.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Organize selected recipes into a weekly meal plan.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Generate a grocery list from planned recipe ingredients.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Show nutrition information when available.</a:t>
            </a:r>
          </a:p>
        </p:txBody>
      </p:sp>
    </p:spTree>
    <p:extLst>
      <p:ext uri="{BB962C8B-B14F-4D97-AF65-F5344CB8AC3E}">
        <p14:creationId xmlns:p14="http://schemas.microsoft.com/office/powerpoint/2010/main" val="137273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7B767ED-D974-4623-8585-67BCE801878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023797E-2CAD-4A60-A808-473AD588A6F0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F8577F-39FC-4B1B-9FC8-0E767F940611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202C3C-487B-411E-A9D1-80BB5BFDDB4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F8FF26-7701-4CFE-BC1D-510B614559BD}"/>
              </a:ext>
            </a:extLst>
          </p:cNvPr>
          <p:cNvSpPr>
            <a:spLocks noGrp="1"/>
          </p:cNvSpPr>
          <p:nvPr/>
        </p:nvSpPr>
        <p:spPr>
          <a:xfrm>
            <a:off x="1095375" y="14859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54"/>
          </a:bodyPr>
          <a:lstStyle/>
          <a:p>
            <a: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An integrated web platform for recipe discovery, meal planning, and grocery preparation.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3D3FD7-934D-4031-A3B1-B97825E6421F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2571750" cy="1000125"/>
          </a:xfrm>
          <a:prstGeom prst="roundRect">
            <a:avLst>
              <a:gd name="adj" fmla="val 7619"/>
            </a:avLst>
          </a:prstGeom>
          <a:solidFill>
            <a:srgbClr val="DDF2EE"/>
          </a:solidFill>
          <a:ln w="9525">
            <a:solidFill>
              <a:srgbClr val="DDF2EE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User account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81A2BD-CC15-46BB-B8E1-7C566706D717}"/>
              </a:ext>
            </a:extLst>
          </p:cNvPr>
          <p:cNvSpPr>
            <a:spLocks noGrp="1"/>
          </p:cNvSpPr>
          <p:nvPr/>
        </p:nvSpPr>
        <p:spPr>
          <a:xfrm>
            <a:off x="4810125" y="2952750"/>
            <a:ext cx="2571750" cy="1000125"/>
          </a:xfrm>
          <a:prstGeom prst="roundRect">
            <a:avLst>
              <a:gd name="adj" fmla="val 7619"/>
            </a:avLst>
          </a:prstGeom>
          <a:solidFill>
            <a:srgbClr val="E6EEF8"/>
          </a:solidFill>
          <a:ln w="9525">
            <a:solidFill>
              <a:srgbClr val="E6EEF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Recipe management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2C39F4-50BE-40E8-880D-DD0CBF0099D0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2571750" cy="1000125"/>
          </a:xfrm>
          <a:prstGeom prst="roundRect">
            <a:avLst>
              <a:gd name="adj" fmla="val 7619"/>
            </a:avLst>
          </a:prstGeom>
          <a:solidFill>
            <a:srgbClr val="FCE4DA"/>
          </a:solidFill>
          <a:ln w="9525">
            <a:solidFill>
              <a:srgbClr val="FCE4DA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Meal planner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ADD23EB-47D5-49AD-A893-45F5DE692764}"/>
              </a:ext>
            </a:extLst>
          </p:cNvPr>
          <p:cNvSpPr>
            <a:spLocks noGrp="1"/>
          </p:cNvSpPr>
          <p:nvPr/>
        </p:nvSpPr>
        <p:spPr>
          <a:xfrm>
            <a:off x="3714750" y="3448050"/>
            <a:ext cx="1095375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155EA25-013E-4958-9CBC-5A88BF24B229}"/>
              </a:ext>
            </a:extLst>
          </p:cNvPr>
          <p:cNvSpPr>
            <a:spLocks noGrp="1"/>
          </p:cNvSpPr>
          <p:nvPr/>
        </p:nvSpPr>
        <p:spPr>
          <a:xfrm>
            <a:off x="7381875" y="3448050"/>
            <a:ext cx="1095375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834C1E-53BD-423C-9CFC-BA81B2F4F955}"/>
              </a:ext>
            </a:extLst>
          </p:cNvPr>
          <p:cNvSpPr>
            <a:spLocks noGrp="1"/>
          </p:cNvSpPr>
          <p:nvPr/>
        </p:nvSpPr>
        <p:spPr>
          <a:xfrm>
            <a:off x="2000250" y="4714875"/>
            <a:ext cx="8191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Users can save and rate recipes for future use.</a:t>
            </a:r>
          </a:p>
        </p:txBody>
      </p:sp>
    </p:spTree>
    <p:extLst>
      <p:ext uri="{BB962C8B-B14F-4D97-AF65-F5344CB8AC3E}">
        <p14:creationId xmlns:p14="http://schemas.microsoft.com/office/powerpoint/2010/main" val="4693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76C700C-A796-4227-B3D9-DE6D770BE8A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0485AA8-59D6-4F16-9C79-94F8E5A694FF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AC1A4-7CEE-4EAA-9742-FA32EF8B82A8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8650F-7C83-4E15-A063-C7BFACD38A28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D207AC-B99F-4B30-8D5A-DF6F8FE7B050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147A78"/>
          </a:solidFill>
          <a:ln w="9525">
            <a:solidFill>
              <a:srgbClr val="147A7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React.js</a:t>
            </a:r>
          </a:p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CE4F08-4A56-4045-A023-2CF6969A26D6}"/>
              </a:ext>
            </a:extLst>
          </p:cNvPr>
          <p:cNvSpPr>
            <a:spLocks noGrp="1"/>
          </p:cNvSpPr>
          <p:nvPr/>
        </p:nvSpPr>
        <p:spPr>
          <a:xfrm>
            <a:off x="2952750" y="2714625"/>
            <a:ext cx="2000250" cy="1000125"/>
          </a:xfrm>
          <a:prstGeom prst="roundRect">
            <a:avLst>
              <a:gd name="adj" fmla="val 7619"/>
            </a:avLst>
          </a:prstGeom>
          <a:solidFill>
            <a:srgbClr val="DDF2EE"/>
          </a:solidFill>
          <a:ln w="9525">
            <a:solidFill>
              <a:srgbClr val="DDF2EE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Node.js +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Express.js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32CD7A-07FB-43E5-8457-04DCB5941D45}"/>
              </a:ext>
            </a:extLst>
          </p:cNvPr>
          <p:cNvSpPr>
            <a:spLocks noGrp="1"/>
          </p:cNvSpPr>
          <p:nvPr/>
        </p:nvSpPr>
        <p:spPr>
          <a:xfrm>
            <a:off x="5429250" y="2714625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E6EEF8"/>
          </a:solidFill>
          <a:ln w="9525">
            <a:solidFill>
              <a:srgbClr val="E6EEF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MongoDB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DAE839-816F-4605-BFB1-751F4E9987D9}"/>
              </a:ext>
            </a:extLst>
          </p:cNvPr>
          <p:cNvSpPr>
            <a:spLocks noGrp="1"/>
          </p:cNvSpPr>
          <p:nvPr/>
        </p:nvSpPr>
        <p:spPr>
          <a:xfrm>
            <a:off x="7715250" y="2714625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CE4DA"/>
          </a:solidFill>
          <a:ln w="9525">
            <a:solidFill>
              <a:srgbClr val="FCE4DA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Cloudinary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973C11-6F38-4C8B-80EF-D8717DB5CB1D}"/>
              </a:ext>
            </a:extLst>
          </p:cNvPr>
          <p:cNvSpPr>
            <a:spLocks noGrp="1"/>
          </p:cNvSpPr>
          <p:nvPr/>
        </p:nvSpPr>
        <p:spPr>
          <a:xfrm>
            <a:off x="10001250" y="2714625"/>
            <a:ext cx="1524000" cy="1000125"/>
          </a:xfrm>
          <a:prstGeom prst="roundRect">
            <a:avLst>
              <a:gd name="adj" fmla="val 7619"/>
            </a:avLst>
          </a:prstGeom>
          <a:solidFill>
            <a:srgbClr val="F6F9FC"/>
          </a:solidFill>
          <a:ln w="9525">
            <a:solidFill>
              <a:srgbClr val="F6F9FC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Nutrition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C9C16F5-D14F-49A9-912B-58F3BFA05E15}"/>
              </a:ext>
            </a:extLst>
          </p:cNvPr>
          <p:cNvSpPr>
            <a:spLocks noGrp="1"/>
          </p:cNvSpPr>
          <p:nvPr/>
        </p:nvSpPr>
        <p:spPr>
          <a:xfrm>
            <a:off x="2476500" y="3209925"/>
            <a:ext cx="47625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D728EA9-2837-4D8B-BAC0-2BF928CC6E89}"/>
              </a:ext>
            </a:extLst>
          </p:cNvPr>
          <p:cNvSpPr>
            <a:spLocks noGrp="1"/>
          </p:cNvSpPr>
          <p:nvPr/>
        </p:nvSpPr>
        <p:spPr>
          <a:xfrm>
            <a:off x="4953000" y="3209925"/>
            <a:ext cx="47625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E978B4A-4D8A-4691-8348-E4C746E48EDF}"/>
              </a:ext>
            </a:extLst>
          </p:cNvPr>
          <p:cNvSpPr>
            <a:spLocks noGrp="1"/>
          </p:cNvSpPr>
          <p:nvPr/>
        </p:nvSpPr>
        <p:spPr>
          <a:xfrm>
            <a:off x="7239000" y="3209925"/>
            <a:ext cx="47625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1F4104F-9152-46F2-9412-47E94AA0F904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47625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F87A9E-1F75-4B1A-A79D-92A20E62B28C}"/>
              </a:ext>
            </a:extLst>
          </p:cNvPr>
          <p:cNvSpPr>
            <a:spLocks noGrp="1"/>
          </p:cNvSpPr>
          <p:nvPr/>
        </p:nvSpPr>
        <p:spPr>
          <a:xfrm>
            <a:off x="1571625" y="4762500"/>
            <a:ext cx="904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The backend handles application requests and connects to storage and external services.</a:t>
            </a:r>
          </a:p>
        </p:txBody>
      </p:sp>
    </p:spTree>
    <p:extLst>
      <p:ext uri="{BB962C8B-B14F-4D97-AF65-F5344CB8AC3E}">
        <p14:creationId xmlns:p14="http://schemas.microsoft.com/office/powerpoint/2010/main" val="103790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4B556E-0BEC-42DE-9CFE-F615F198559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Modules and functionalities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CCA4185-9C21-4865-A458-F8D7CA2E3693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AAD58A-8989-4EE2-854C-88DCDD688C73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18071C-762E-4031-8E8E-220D10D89A4F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672B6C-1290-4679-BD81-3519E749094A}"/>
              </a:ext>
            </a:extLst>
          </p:cNvPr>
          <p:cNvSpPr>
            <a:spLocks noGrp="1"/>
          </p:cNvSpPr>
          <p:nvPr/>
        </p:nvSpPr>
        <p:spPr>
          <a:xfrm>
            <a:off x="1000125" y="1504950"/>
            <a:ext cx="4905375" cy="3476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User registration and login.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Recipe creation with ingredients and instructions.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Recipe search, ratings, and saved recipes.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C1286F-37FD-4D74-BDED-808DB5DE69DC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Weekly meal planner.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Grocery list generation.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Nutrition information through an external API.</a:t>
            </a:r>
          </a:p>
        </p:txBody>
      </p:sp>
    </p:spTree>
    <p:extLst>
      <p:ext uri="{BB962C8B-B14F-4D97-AF65-F5344CB8AC3E}">
        <p14:creationId xmlns:p14="http://schemas.microsoft.com/office/powerpoint/2010/main" val="22966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E440F7-BE11-4B5B-8CCB-5664160E26F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Frontend design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5CFACD1-DD76-478E-9AD1-74B1C82DBC84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856E82-F43A-4440-BE03-A014D4BE514D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8C1C30-8498-44D3-BB0B-7CBABBCAE79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E20AD-A1C3-496B-A928-70839DCAA629}"/>
              </a:ext>
            </a:extLst>
          </p:cNvPr>
          <p:cNvSpPr>
            <a:spLocks noGrp="1"/>
          </p:cNvSpPr>
          <p:nvPr/>
        </p:nvSpPr>
        <p:spPr>
          <a:xfrm>
            <a:off x="809625" y="1333500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 algn="ctr">
              <a:defRPr sz="15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endParaRPr sz="1500" b="0" dirty="0">
              <a:solidFill>
                <a:srgbClr val="627D9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65705B-9E8B-4252-A0F2-A85F2E278220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2381250" cy="2238375"/>
          </a:xfrm>
          <a:prstGeom prst="roundRect">
            <a:avLst>
              <a:gd name="adj" fmla="val 3404"/>
            </a:avLst>
          </a:prstGeom>
          <a:solidFill>
            <a:srgbClr val="F6F9FC"/>
          </a:solidFill>
          <a:ln w="9525">
            <a:solidFill>
              <a:srgbClr val="F6F9FC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Home page</a:t>
            </a:r>
          </a:p>
          <a:p>
            <a:endParaRPr sz="1575" b="1" dirty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Recipe search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Categories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Featured recipes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2E1C99-BA5A-4D2E-AD28-C6E8D37CE3CE}"/>
              </a:ext>
            </a:extLst>
          </p:cNvPr>
          <p:cNvSpPr>
            <a:spLocks noGrp="1"/>
          </p:cNvSpPr>
          <p:nvPr/>
        </p:nvSpPr>
        <p:spPr>
          <a:xfrm>
            <a:off x="3619500" y="2190750"/>
            <a:ext cx="2381250" cy="2238375"/>
          </a:xfrm>
          <a:prstGeom prst="roundRect">
            <a:avLst>
              <a:gd name="adj" fmla="val 3404"/>
            </a:avLst>
          </a:prstGeom>
          <a:solidFill>
            <a:srgbClr val="E6EEF8"/>
          </a:solidFill>
          <a:ln w="9525">
            <a:solidFill>
              <a:srgbClr val="E6EEF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Login / Registration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Account access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New user form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927FC6-60F7-4B25-BCBE-895AB1A7AA41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2381250" cy="2238375"/>
          </a:xfrm>
          <a:prstGeom prst="roundRect">
            <a:avLst>
              <a:gd name="adj" fmla="val 3404"/>
            </a:avLst>
          </a:prstGeom>
          <a:solidFill>
            <a:srgbClr val="DDF2EE"/>
          </a:solidFill>
          <a:ln w="9525">
            <a:solidFill>
              <a:srgbClr val="DDF2EE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Recipe form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Ingredients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Instructions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Image upload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51944F-957A-4218-B4BA-DA6E22B03541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2381250" cy="2238375"/>
          </a:xfrm>
          <a:prstGeom prst="roundRect">
            <a:avLst>
              <a:gd name="adj" fmla="val 3404"/>
            </a:avLst>
          </a:prstGeom>
          <a:solidFill>
            <a:srgbClr val="FCE4DA"/>
          </a:solidFill>
          <a:ln w="9525">
            <a:solidFill>
              <a:srgbClr val="FCE4DA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Dashboard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Saved recipes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Meal plan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Grocery list</a:t>
            </a:r>
          </a:p>
        </p:txBody>
      </p:sp>
    </p:spTree>
    <p:extLst>
      <p:ext uri="{BB962C8B-B14F-4D97-AF65-F5344CB8AC3E}">
        <p14:creationId xmlns:p14="http://schemas.microsoft.com/office/powerpoint/2010/main" val="18192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566BC8-577A-4B57-95AF-2AFCFDF4509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Frontend implementation screenshots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E1A1A4B-BC83-4C27-96BC-AD5F372346C8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F7D397-1981-4FE0-B95E-9534ACB32F1E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87FEF-F9D7-409C-88E3-9532DFBB843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CBE637-80EA-4CCA-A2BC-9F9EC9FC001B}"/>
              </a:ext>
            </a:extLst>
          </p:cNvPr>
          <p:cNvSpPr>
            <a:spLocks noGrp="1"/>
          </p:cNvSpPr>
          <p:nvPr/>
        </p:nvSpPr>
        <p:spPr>
          <a:xfrm>
            <a:off x="1160206" y="2524126"/>
            <a:ext cx="9603044" cy="381000"/>
          </a:xfrm>
          <a:prstGeom prst="roundRect">
            <a:avLst>
              <a:gd name="adj" fmla="val 0"/>
            </a:avLst>
          </a:prstGeom>
          <a:solidFill>
            <a:srgbClr val="F6F9FC"/>
          </a:solidFill>
          <a:ln w="9525">
            <a:solidFill>
              <a:srgbClr val="C7D4E2"/>
            </a:solidFill>
          </a:ln>
        </p:spPr>
        <p:txBody>
          <a:bodyPr anchor="ctr">
            <a:normAutofit/>
          </a:bodyPr>
          <a:lstStyle/>
          <a:p>
            <a:pPr algn="ctr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Insert</a:t>
            </a:r>
            <a:r>
              <a:rPr lang="en-US" sz="18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ing </a:t>
            </a:r>
            <a:r>
              <a:rPr sz="18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screenshots of the completed home page, forms, navigation, and dashboard</a:t>
            </a:r>
            <a:r>
              <a:rPr lang="en-US" sz="18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</a:t>
            </a:r>
            <a:endParaRPr sz="1800" b="0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A8DB9F-F980-42D9-9BE0-E20BEC5340ED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8001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E77D5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E77D5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7B4958-016B-FDF0-4818-0EB2CB56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515" y="3049826"/>
            <a:ext cx="1562235" cy="18060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AA1E35-0417-5347-5C37-147209A71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960" y="3145084"/>
            <a:ext cx="2690093" cy="16155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5A4929-70BB-4237-FD67-4F12CB37F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913" y="3145084"/>
            <a:ext cx="2629128" cy="1844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873E24-3616-5C2A-5852-06755F9F0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3996" y="3274143"/>
            <a:ext cx="1524132" cy="158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4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C59B5D-26E7-4923-96BE-1E86FFB4B2A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433CFB2-C7EC-4993-B9EE-921E4E8FEB58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43BDB-2742-4766-B934-A2AC77F42336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598743-B42D-4859-B3F0-AB0D91E9F6F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8943D8-53F2-4C71-B098-7CE56D1666C2}"/>
              </a:ext>
            </a:extLst>
          </p:cNvPr>
          <p:cNvSpPr>
            <a:spLocks noGrp="1"/>
          </p:cNvSpPr>
          <p:nvPr/>
        </p:nvSpPr>
        <p:spPr>
          <a:xfrm>
            <a:off x="1095375" y="1476375"/>
            <a:ext cx="1000125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MongoDB stores user accounts, recipes, meal plans, and grocery lists.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Cloudinary stores recipe images outside the database.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backend connects application requests to MongoDB and the Nutrition API.</a:t>
            </a:r>
          </a:p>
        </p:txBody>
      </p:sp>
    </p:spTree>
    <p:extLst>
      <p:ext uri="{BB962C8B-B14F-4D97-AF65-F5344CB8AC3E}">
        <p14:creationId xmlns:p14="http://schemas.microsoft.com/office/powerpoint/2010/main" val="687264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845A92-1E6E-43EB-8801-3CFA5545450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ER diagram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5451446-C7D0-42E9-BFDA-CE11818BF338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3551D-B97F-4054-8468-AFC5E74115B2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C084F-907F-445F-BCF5-0706B6372E7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C0B287-8373-45A2-9231-0C813B9A201E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1714500" cy="809625"/>
          </a:xfrm>
          <a:prstGeom prst="roundRect">
            <a:avLst>
              <a:gd name="adj" fmla="val 9412"/>
            </a:avLst>
          </a:prstGeom>
          <a:solidFill>
            <a:srgbClr val="DDF2EE"/>
          </a:solidFill>
          <a:ln w="9525">
            <a:solidFill>
              <a:srgbClr val="DDF2EE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46F455-8067-4375-866B-D37E1F6F1C1E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2000250" cy="809625"/>
          </a:xfrm>
          <a:prstGeom prst="roundRect">
            <a:avLst>
              <a:gd name="adj" fmla="val 9412"/>
            </a:avLst>
          </a:prstGeom>
          <a:solidFill>
            <a:srgbClr val="E6EEF8"/>
          </a:solidFill>
          <a:ln w="9525">
            <a:solidFill>
              <a:srgbClr val="E6EEF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Recipe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427B7C-489C-4E72-BC35-6EDEA2107619}"/>
              </a:ext>
            </a:extLst>
          </p:cNvPr>
          <p:cNvSpPr>
            <a:spLocks noGrp="1"/>
          </p:cNvSpPr>
          <p:nvPr/>
        </p:nvSpPr>
        <p:spPr>
          <a:xfrm>
            <a:off x="3524250" y="4000500"/>
            <a:ext cx="2000250" cy="809625"/>
          </a:xfrm>
          <a:prstGeom prst="roundRect">
            <a:avLst>
              <a:gd name="adj" fmla="val 9412"/>
            </a:avLst>
          </a:prstGeom>
          <a:solidFill>
            <a:srgbClr val="FCE4DA"/>
          </a:solidFill>
          <a:ln w="9525">
            <a:solidFill>
              <a:srgbClr val="FCE4DA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Meal plan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D66E13-7FAE-4DF5-9323-30BB00AF0ED9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2000250" cy="809625"/>
          </a:xfrm>
          <a:prstGeom prst="roundRect">
            <a:avLst>
              <a:gd name="adj" fmla="val 9412"/>
            </a:avLst>
          </a:prstGeom>
          <a:solidFill>
            <a:srgbClr val="F6F9FC"/>
          </a:solidFill>
          <a:ln w="9525">
            <a:solidFill>
              <a:srgbClr val="F6F9FC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Ingredient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EB540D-9FE9-43B6-9216-C4367E249CDD}"/>
              </a:ext>
            </a:extLst>
          </p:cNvPr>
          <p:cNvSpPr>
            <a:spLocks noGrp="1"/>
          </p:cNvSpPr>
          <p:nvPr/>
        </p:nvSpPr>
        <p:spPr>
          <a:xfrm>
            <a:off x="6667500" y="4000500"/>
            <a:ext cx="2000250" cy="809625"/>
          </a:xfrm>
          <a:prstGeom prst="roundRect">
            <a:avLst>
              <a:gd name="adj" fmla="val 9412"/>
            </a:avLst>
          </a:prstGeom>
          <a:solidFill>
            <a:srgbClr val="DDF2EE"/>
          </a:solidFill>
          <a:ln w="9525">
            <a:solidFill>
              <a:srgbClr val="DDF2EE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Grocery list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EFACE7-068F-4F9B-8734-09FAB3616497}"/>
              </a:ext>
            </a:extLst>
          </p:cNvPr>
          <p:cNvSpPr>
            <a:spLocks noGrp="1"/>
          </p:cNvSpPr>
          <p:nvPr/>
        </p:nvSpPr>
        <p:spPr>
          <a:xfrm>
            <a:off x="9620250" y="2762250"/>
            <a:ext cx="1714500" cy="809625"/>
          </a:xfrm>
          <a:prstGeom prst="roundRect">
            <a:avLst>
              <a:gd name="adj" fmla="val 9412"/>
            </a:avLst>
          </a:prstGeom>
          <a:solidFill>
            <a:srgbClr val="147A78"/>
          </a:solidFill>
          <a:ln w="9525">
            <a:solidFill>
              <a:srgbClr val="147A7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Rating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C707EA2-175C-40A5-B048-CEEB7A7C1CDC}"/>
              </a:ext>
            </a:extLst>
          </p:cNvPr>
          <p:cNvSpPr>
            <a:spLocks noGrp="1"/>
          </p:cNvSpPr>
          <p:nvPr/>
        </p:nvSpPr>
        <p:spPr>
          <a:xfrm>
            <a:off x="2381250" y="2162175"/>
            <a:ext cx="1143000" cy="1000125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EFB38E4-5287-4883-8933-4CD040149DDB}"/>
              </a:ext>
            </a:extLst>
          </p:cNvPr>
          <p:cNvSpPr>
            <a:spLocks noGrp="1"/>
          </p:cNvSpPr>
          <p:nvPr/>
        </p:nvSpPr>
        <p:spPr>
          <a:xfrm>
            <a:off x="2381250" y="3162300"/>
            <a:ext cx="1143000" cy="123825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6F8EAE5-8629-462B-A2D7-625C56B73198}"/>
              </a:ext>
            </a:extLst>
          </p:cNvPr>
          <p:cNvSpPr>
            <a:spLocks noGrp="1"/>
          </p:cNvSpPr>
          <p:nvPr/>
        </p:nvSpPr>
        <p:spPr>
          <a:xfrm>
            <a:off x="5524500" y="2114550"/>
            <a:ext cx="11430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1660EA1-596C-4D91-9F6B-C73C5CA22A5A}"/>
              </a:ext>
            </a:extLst>
          </p:cNvPr>
          <p:cNvSpPr>
            <a:spLocks noGrp="1"/>
          </p:cNvSpPr>
          <p:nvPr/>
        </p:nvSpPr>
        <p:spPr>
          <a:xfrm>
            <a:off x="5524500" y="4400550"/>
            <a:ext cx="11430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85F4277-0BF6-4517-BAFC-0AB153BBF50E}"/>
              </a:ext>
            </a:extLst>
          </p:cNvPr>
          <p:cNvSpPr>
            <a:spLocks noGrp="1"/>
          </p:cNvSpPr>
          <p:nvPr/>
        </p:nvSpPr>
        <p:spPr>
          <a:xfrm>
            <a:off x="8667750" y="3162300"/>
            <a:ext cx="952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</p:spTree>
    <p:extLst>
      <p:ext uri="{BB962C8B-B14F-4D97-AF65-F5344CB8AC3E}">
        <p14:creationId xmlns:p14="http://schemas.microsoft.com/office/powerpoint/2010/main" val="1397230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F5DC7DF-16E5-4025-8E42-61129551906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Database tables and schema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F554E84-B106-45B5-A1A8-375C757BD744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62F0C-E4A2-4362-8942-C5C97B4686B6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07307-C5EB-4CB5-9B4C-E5290610158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FA39B8-25CB-4F5C-8391-02FA0CA1AD5E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/>
          </a:bodyPr>
          <a:lstStyle/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Proposed collections and key fields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6D512B-3A1F-46DA-BA68-D3478B9FB6F5}"/>
              </a:ext>
            </a:extLst>
          </p:cNvPr>
          <p:cNvSpPr>
            <a:spLocks noGrp="1"/>
          </p:cNvSpPr>
          <p:nvPr/>
        </p:nvSpPr>
        <p:spPr>
          <a:xfrm>
            <a:off x="904875" y="2286000"/>
            <a:ext cx="2381250" cy="2000250"/>
          </a:xfrm>
          <a:prstGeom prst="roundRect">
            <a:avLst>
              <a:gd name="adj" fmla="val 3810"/>
            </a:avLst>
          </a:prstGeom>
          <a:solidFill>
            <a:srgbClr val="F6F9FC"/>
          </a:solidFill>
          <a:ln w="9525">
            <a:solidFill>
              <a:srgbClr val="F6F9FC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Users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name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email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password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085CF7-80AF-4506-B544-B76D0F8F64EC}"/>
              </a:ext>
            </a:extLst>
          </p:cNvPr>
          <p:cNvSpPr>
            <a:spLocks noGrp="1"/>
          </p:cNvSpPr>
          <p:nvPr/>
        </p:nvSpPr>
        <p:spPr>
          <a:xfrm>
            <a:off x="3667125" y="2286000"/>
            <a:ext cx="2381250" cy="2000250"/>
          </a:xfrm>
          <a:prstGeom prst="roundRect">
            <a:avLst>
              <a:gd name="adj" fmla="val 3810"/>
            </a:avLst>
          </a:prstGeom>
          <a:solidFill>
            <a:srgbClr val="DDF2EE"/>
          </a:solidFill>
          <a:ln w="9525">
            <a:solidFill>
              <a:srgbClr val="DDF2EE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Recipes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title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ingredients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instructions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CBD4B9-B053-4D00-ADEF-4FFBC257FB20}"/>
              </a:ext>
            </a:extLst>
          </p:cNvPr>
          <p:cNvSpPr>
            <a:spLocks noGrp="1"/>
          </p:cNvSpPr>
          <p:nvPr/>
        </p:nvSpPr>
        <p:spPr>
          <a:xfrm>
            <a:off x="6429375" y="2286000"/>
            <a:ext cx="2381250" cy="2000250"/>
          </a:xfrm>
          <a:prstGeom prst="roundRect">
            <a:avLst>
              <a:gd name="adj" fmla="val 3810"/>
            </a:avLst>
          </a:prstGeom>
          <a:solidFill>
            <a:srgbClr val="E6EEF8"/>
          </a:solidFill>
          <a:ln w="9525">
            <a:solidFill>
              <a:srgbClr val="E6EEF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MealPlans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userId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week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recipes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4ACE43-A7DD-432A-8328-29A1A7663F91}"/>
              </a:ext>
            </a:extLst>
          </p:cNvPr>
          <p:cNvSpPr>
            <a:spLocks noGrp="1"/>
          </p:cNvSpPr>
          <p:nvPr/>
        </p:nvSpPr>
        <p:spPr>
          <a:xfrm>
            <a:off x="9191625" y="2286000"/>
            <a:ext cx="2381250" cy="2000250"/>
          </a:xfrm>
          <a:prstGeom prst="roundRect">
            <a:avLst>
              <a:gd name="adj" fmla="val 3810"/>
            </a:avLst>
          </a:prstGeom>
          <a:solidFill>
            <a:srgbClr val="FCE4DA"/>
          </a:solidFill>
          <a:ln w="9525">
            <a:solidFill>
              <a:srgbClr val="FCE4DA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GroceryLists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userId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items</a:t>
            </a:r>
          </a:p>
        </p:txBody>
      </p:sp>
    </p:spTree>
    <p:extLst>
      <p:ext uri="{BB962C8B-B14F-4D97-AF65-F5344CB8AC3E}">
        <p14:creationId xmlns:p14="http://schemas.microsoft.com/office/powerpoint/2010/main" val="1103798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856F7E-DCAB-4023-810D-4F9EA6AF293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Sample database records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228AA89-876C-438D-AF23-A90497846469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E28DD9-F705-4E1F-8327-C1CFB8296EF3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09C51-7F48-4DCA-9034-CB176095FC3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AC5AF3-0178-4DC1-8E99-88DE5DCA981F}"/>
              </a:ext>
            </a:extLst>
          </p:cNvPr>
          <p:cNvSpPr>
            <a:spLocks noGrp="1"/>
          </p:cNvSpPr>
          <p:nvPr/>
        </p:nvSpPr>
        <p:spPr>
          <a:xfrm>
            <a:off x="1190625" y="2381250"/>
            <a:ext cx="2952750" cy="2095500"/>
          </a:xfrm>
          <a:prstGeom prst="roundRect">
            <a:avLst>
              <a:gd name="adj" fmla="val 3636"/>
            </a:avLst>
          </a:prstGeom>
          <a:solidFill>
            <a:srgbClr val="F6F9FC"/>
          </a:solidFill>
          <a:ln w="9525">
            <a:solidFill>
              <a:srgbClr val="F6F9FC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User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name: Arun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email: arun@example.com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1430DA-577A-4612-B341-77FF2920C02D}"/>
              </a:ext>
            </a:extLst>
          </p:cNvPr>
          <p:cNvSpPr>
            <a:spLocks noGrp="1"/>
          </p:cNvSpPr>
          <p:nvPr/>
        </p:nvSpPr>
        <p:spPr>
          <a:xfrm>
            <a:off x="4619625" y="2381250"/>
            <a:ext cx="2952750" cy="2095500"/>
          </a:xfrm>
          <a:prstGeom prst="roundRect">
            <a:avLst>
              <a:gd name="adj" fmla="val 3636"/>
            </a:avLst>
          </a:prstGeom>
          <a:solidFill>
            <a:srgbClr val="DDF2EE"/>
          </a:solidFill>
          <a:ln w="9525">
            <a:solidFill>
              <a:srgbClr val="DDF2EE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Recipe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title: Vegetable Pasta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category: Dinner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3D4059-80E2-4453-9C24-C7DE0A830841}"/>
              </a:ext>
            </a:extLst>
          </p:cNvPr>
          <p:cNvSpPr>
            <a:spLocks noGrp="1"/>
          </p:cNvSpPr>
          <p:nvPr/>
        </p:nvSpPr>
        <p:spPr>
          <a:xfrm>
            <a:off x="8048625" y="2381250"/>
            <a:ext cx="2952750" cy="2095500"/>
          </a:xfrm>
          <a:prstGeom prst="roundRect">
            <a:avLst>
              <a:gd name="adj" fmla="val 3636"/>
            </a:avLst>
          </a:prstGeom>
          <a:solidFill>
            <a:srgbClr val="E6EEF8"/>
          </a:solidFill>
          <a:ln w="9525">
            <a:solidFill>
              <a:srgbClr val="E6EEF8"/>
            </a:solidFill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MealPlan</a:t>
            </a:r>
          </a:p>
          <a:p>
            <a:endParaRPr sz="15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week: 1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recipe: Vegetable Pasta</a:t>
            </a:r>
          </a:p>
        </p:txBody>
      </p:sp>
    </p:spTree>
    <p:extLst>
      <p:ext uri="{BB962C8B-B14F-4D97-AF65-F5344CB8AC3E}">
        <p14:creationId xmlns:p14="http://schemas.microsoft.com/office/powerpoint/2010/main" val="1786560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D0060E-B784-4C25-9249-4506FAC6189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Current progress and challenges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14F312A-30CA-42AC-8AC6-E09844510D74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69FFB2-69C6-4F7B-95DE-AF7B59A9BCB7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39377F-8527-442C-9FAC-2A58750C93C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E605F-B30C-48D5-B5A2-6B53A256E03B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4667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Project abstract submitted.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Technology stack identified.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Architecture and proposed data model prepared.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015D3D-3173-486D-A4D6-D58563599B6E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4667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Frontend screenshots are pending.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Database tables and sample records are pending.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Implementation evidence is required for Review 2.</a:t>
            </a:r>
          </a:p>
        </p:txBody>
      </p:sp>
    </p:spTree>
    <p:extLst>
      <p:ext uri="{BB962C8B-B14F-4D97-AF65-F5344CB8AC3E}">
        <p14:creationId xmlns:p14="http://schemas.microsoft.com/office/powerpoint/2010/main" val="1983845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A24123-6B0B-4391-9C74-34744CD39B6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Future work and conclusion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294D84D-6FA5-4EA3-8E65-236A228D7B73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10858500" cy="0"/>
          </a:xfrm>
          <a:prstGeom prst="line">
            <a:avLst/>
          </a:prstGeom>
          <a:noFill/>
          <a:ln w="28575">
            <a:solidFill>
              <a:srgbClr val="147A7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7AA452-E15C-428C-B1C7-F5A74925F163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85725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85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Recipe Sharing Platform with Meal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5AEB9F-FF63-486B-B6B1-25903BEA109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E8C2FB-C5A4-4E60-9F1F-DE4DA6BF0ADC}"/>
              </a:ext>
            </a:extLst>
          </p:cNvPr>
          <p:cNvSpPr>
            <a:spLocks noGrp="1"/>
          </p:cNvSpPr>
          <p:nvPr/>
        </p:nvSpPr>
        <p:spPr>
          <a:xfrm>
            <a:off x="1095375" y="1476375"/>
            <a:ext cx="9715500" cy="2238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Build the frontend pages and navigation.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Implement the backend APIs and MongoDB collections.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Add Cloudinary image uploads and Nutrition API integration.</a:t>
            </a:r>
          </a:p>
          <a:p>
            <a:pPr marL="279400" indent="-127000" algn="l">
              <a:spcAft>
                <a:spcPts val="1000"/>
              </a:spcAft>
              <a:buChar char="•"/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Capture evidence for the Review 2 demonstration.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3A763D-90BD-49DC-8F2A-CB5D60064D4D}"/>
              </a:ext>
            </a:extLst>
          </p:cNvPr>
          <p:cNvSpPr>
            <a:spLocks noGrp="1"/>
          </p:cNvSpPr>
          <p:nvPr/>
        </p:nvSpPr>
        <p:spPr>
          <a:xfrm>
            <a:off x="1524000" y="4857750"/>
            <a:ext cx="9144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/>
          </a:bodyPr>
          <a:lstStyle/>
          <a:p>
            <a:pPr algn="ctr">
              <a:defRPr sz="1800" b="1">
                <a:solidFill>
                  <a:srgbClr val="147A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7A78"/>
                </a:solidFill>
                <a:latin typeface="Arial"/>
                <a:ea typeface="Arial"/>
                <a:cs typeface="Arial"/>
              </a:rPr>
              <a:t>The project aims to make recipe management, meal planning, and grocery preparation easier for users.</a:t>
            </a:r>
          </a:p>
        </p:txBody>
      </p:sp>
    </p:spTree>
    <p:extLst>
      <p:ext uri="{BB962C8B-B14F-4D97-AF65-F5344CB8AC3E}">
        <p14:creationId xmlns:p14="http://schemas.microsoft.com/office/powerpoint/2010/main" val="11089018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687</Words>
  <Application>Microsoft Office PowerPoint</Application>
  <DocSecurity>0</DocSecurity>
  <PresentationFormat>Widescreen</PresentationFormat>
  <Paragraphs>166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 VARUN</cp:lastModifiedBy>
  <cp:revision>2</cp:revision>
  <dcterms:created xsi:type="dcterms:W3CDTF">2026-09-08T14:06:54Z</dcterms:created>
  <dcterms:modified xsi:type="dcterms:W3CDTF">2026-09-08T15:09:36Z</dcterms:modified>
</cp:coreProperties>
</file>